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777240"/>
            <a:ext cx="109728" cy="5166360"/>
          </a:xfrm>
          <a:prstGeom prst="rect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14300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</a:rPr>
              <a:t>Real-Time Game Frame
Enhancement Using Lightweight CNN</a:t>
            </a:r>
          </a:p>
          <a:p>
            <a:r>
              <a:rPr sz="1800">
                <a:solidFill>
                  <a:srgbClr val="AFB9C8"/>
                </a:solidFill>
              </a:rPr>
              <a:t>Lightweight image restoration for degraded game frames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3749039"/>
            <a:ext cx="2834640" cy="123444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3749039"/>
            <a:ext cx="64008" cy="1234440"/>
          </a:xfrm>
          <a:prstGeom prst="rect">
            <a:avLst/>
          </a:prstGeom>
          <a:solidFill>
            <a:srgbClr val="4A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3895344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MODEL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4224527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1,683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4800600"/>
            <a:ext cx="2468880" cy="45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parameters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3749039"/>
            <a:ext cx="2834640" cy="123444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3749039"/>
            <a:ext cx="64008" cy="1234440"/>
          </a:xfrm>
          <a:prstGeom prst="rect">
            <a:avLst/>
          </a:prstGeom>
          <a:solidFill>
            <a:srgbClr val="4B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3895344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4224527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26.24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4800600"/>
            <a:ext cx="2468880" cy="45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per tested frame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3749039"/>
            <a:ext cx="2834640" cy="123444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3749039"/>
            <a:ext cx="64008" cy="1234440"/>
          </a:xfrm>
          <a:prstGeom prst="rect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3895344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0648" y="4224527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31.12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0648" y="4800600"/>
            <a:ext cx="2468880" cy="45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PSNR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FB9C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FB9C8"/>
                </a:solidFill>
              </a:rPr>
              <a:t>Why lightweight game-frame enhancement?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</a:defRPr>
            </a:pPr>
            <a:r>
              <a:t>• Game frames can lose visual quality due to blur, noise, downsampling, and compression artifacts.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</a:defRPr>
            </a:pPr>
            <a:r>
              <a:t>• Traditional image processing can improve contrast and sharpness but may introduce harsh or unnatural artifacts.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</a:defRPr>
            </a:pPr>
            <a:r>
              <a:t>• A compact CNN can learn to reconstruct cleaner frames while keeping model complexity small.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</a:defRPr>
            </a:pPr>
            <a:r>
              <a:t>• The project focuses on image-quality improvement and low-latency inference rather than a large deep-learning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FB9C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5166360" cy="173736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64008" cy="1737360"/>
          </a:xfrm>
          <a:prstGeom prst="rect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63624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Lightweight 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011680"/>
            <a:ext cx="480060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Build a compact enhancement model using depthwise-separable convolutions.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166360" cy="173736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64008" cy="1737360"/>
          </a:xfrm>
          <a:prstGeom prst="rect">
            <a:avLst/>
          </a:prstGeom>
          <a:solidFill>
            <a:srgbClr val="4B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563624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Artifact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011680"/>
            <a:ext cx="480060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Recover cleaner frames from blur, noise, downsampling, and compression degradation.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66160"/>
            <a:ext cx="5166360" cy="173736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64008" cy="1737360"/>
          </a:xfrm>
          <a:prstGeom prst="rect">
            <a:avLst/>
          </a:prstGeom>
          <a:solidFill>
            <a:srgbClr val="4A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712464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Quality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160520"/>
            <a:ext cx="480060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Measure enhancement using PSNR and SSIM.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566160"/>
            <a:ext cx="5166360" cy="173736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566160"/>
            <a:ext cx="64008" cy="1737360"/>
          </a:xfrm>
          <a:prstGeom prst="rect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3712464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Baseline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4160520"/>
            <a:ext cx="480060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Evaluate the CNN alongside a traditional image-processing pipeline.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FB9C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FB9C8"/>
                </a:solidFill>
              </a:rPr>
              <a:t>End-to-end enhancement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57400"/>
            <a:ext cx="1874519" cy="201168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64008" cy="2011680"/>
          </a:xfrm>
          <a:prstGeom prst="rect">
            <a:avLst/>
          </a:prstGeom>
          <a:solidFill>
            <a:srgbClr val="4B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203704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651760"/>
            <a:ext cx="15087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Uploaded frame</a:t>
            </a:r>
          </a:p>
        </p:txBody>
      </p:sp>
      <p:sp>
        <p:nvSpPr>
          <p:cNvPr id="8" name="Chevron 7"/>
          <p:cNvSpPr/>
          <p:nvPr/>
        </p:nvSpPr>
        <p:spPr>
          <a:xfrm>
            <a:off x="2423160" y="2788920"/>
            <a:ext cx="274320" cy="411480"/>
          </a:xfrm>
          <a:prstGeom prst="chevron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88920" y="2057400"/>
            <a:ext cx="1874519" cy="201168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8920" y="2057400"/>
            <a:ext cx="64008" cy="2011680"/>
          </a:xfrm>
          <a:prstGeom prst="rect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2203704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Degradation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651760"/>
            <a:ext cx="15087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Downsample
Blur + Noise
JPEG artifacts</a:t>
            </a:r>
          </a:p>
        </p:txBody>
      </p:sp>
      <p:sp>
        <p:nvSpPr>
          <p:cNvPr id="13" name="Chevron 12"/>
          <p:cNvSpPr/>
          <p:nvPr/>
        </p:nvSpPr>
        <p:spPr>
          <a:xfrm>
            <a:off x="4709160" y="2788920"/>
            <a:ext cx="274320" cy="411480"/>
          </a:xfrm>
          <a:prstGeom prst="chevron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74920" y="2057400"/>
            <a:ext cx="1874519" cy="201168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4920" y="2057400"/>
            <a:ext cx="64008" cy="2011680"/>
          </a:xfrm>
          <a:prstGeom prst="rect">
            <a:avLst/>
          </a:prstGeom>
          <a:solidFill>
            <a:srgbClr val="4A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088" y="2203704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CNN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2651760"/>
            <a:ext cx="15087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Conv2D +
Separable Conv
Residual learning</a:t>
            </a:r>
          </a:p>
        </p:txBody>
      </p:sp>
      <p:sp>
        <p:nvSpPr>
          <p:cNvPr id="18" name="Chevron 17"/>
          <p:cNvSpPr/>
          <p:nvPr/>
        </p:nvSpPr>
        <p:spPr>
          <a:xfrm>
            <a:off x="6995160" y="2788920"/>
            <a:ext cx="274320" cy="411480"/>
          </a:xfrm>
          <a:prstGeom prst="chevron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60920" y="2057400"/>
            <a:ext cx="1874519" cy="201168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2057400"/>
            <a:ext cx="64008" cy="2011680"/>
          </a:xfrm>
          <a:prstGeom prst="rect">
            <a:avLst/>
          </a:prstGeom>
          <a:solidFill>
            <a:srgbClr val="4A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203704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2651760"/>
            <a:ext cx="15087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Enhanced
game frame</a:t>
            </a:r>
          </a:p>
        </p:txBody>
      </p:sp>
      <p:sp>
        <p:nvSpPr>
          <p:cNvPr id="23" name="Chevron 22"/>
          <p:cNvSpPr/>
          <p:nvPr/>
        </p:nvSpPr>
        <p:spPr>
          <a:xfrm>
            <a:off x="9281160" y="2788920"/>
            <a:ext cx="274320" cy="411480"/>
          </a:xfrm>
          <a:prstGeom prst="chevron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46920" y="2057400"/>
            <a:ext cx="1874519" cy="201168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46920" y="2057400"/>
            <a:ext cx="64008" cy="2011680"/>
          </a:xfrm>
          <a:prstGeom prst="rect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48088" y="2203704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8088" y="2651760"/>
            <a:ext cx="15087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PSNR + SSIM
Latency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FB9C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Traditional Enhancement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291840" cy="201168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64008" cy="2011680"/>
          </a:xfrm>
          <a:prstGeom prst="rect">
            <a:avLst/>
          </a:prstGeom>
          <a:solidFill>
            <a:srgbClr val="4B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975104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01  DENOISING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30428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Bilateral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8036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Edge-preserving smoothing.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291840" cy="201168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828800"/>
            <a:ext cx="64008" cy="2011680"/>
          </a:xfrm>
          <a:prstGeom prst="rect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975104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02  CONTRAST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30428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CLAHE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88036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Local contrast enhancement in LAB space.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291840" cy="201168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64008" cy="2011680"/>
          </a:xfrm>
          <a:prstGeom prst="rect">
            <a:avLst/>
          </a:prstGeom>
          <a:solidFill>
            <a:srgbClr val="4A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975104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03  SHARPENING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30428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Controlled Unsharp Mask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88036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Mild detail enhancement without aggressive edges.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434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5F7FA"/>
                </a:solidFill>
              </a:defRPr>
            </a:pPr>
            <a:r>
              <a:t>• This classical pipeline is used as a baseline for PSNR/SSIM comparison.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FB9C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Lightweight CNN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2423160" cy="182880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64008" cy="1828800"/>
          </a:xfrm>
          <a:prstGeom prst="rect">
            <a:avLst/>
          </a:prstGeom>
          <a:solidFill>
            <a:srgbClr val="4B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79222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121408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128 × 128 ×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697480"/>
            <a:ext cx="2057400" cy="640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Normalized frame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23160" cy="182880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645920"/>
            <a:ext cx="64008" cy="1828800"/>
          </a:xfrm>
          <a:prstGeom prst="rect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7" y="179222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121408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Conv2D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697480"/>
            <a:ext cx="2057400" cy="640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16 filters + ReLU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2423160" cy="182880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45920"/>
            <a:ext cx="64008" cy="1828800"/>
          </a:xfrm>
          <a:prstGeom prst="rect">
            <a:avLst/>
          </a:prstGeom>
          <a:solidFill>
            <a:srgbClr val="4A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79222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Efficient Blocks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121408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3 × SeparableConv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697480"/>
            <a:ext cx="2057400" cy="640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Depthwise-separable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59" y="1645920"/>
            <a:ext cx="2423160" cy="182880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59" y="1645920"/>
            <a:ext cx="64008" cy="1828800"/>
          </a:xfrm>
          <a:prstGeom prst="rect">
            <a:avLst/>
          </a:prstGeom>
          <a:solidFill>
            <a:srgbClr val="4B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179222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Reconstruction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121408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Residual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697480"/>
            <a:ext cx="2057400" cy="640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1×1 Conv + residual add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4069080"/>
            <a:ext cx="6583680" cy="123444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88920" y="4069080"/>
            <a:ext cx="64008" cy="1234440"/>
          </a:xfrm>
          <a:prstGeom prst="rect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0088" y="4215384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MODEL COMPLEXITY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0088" y="4544568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1,683 parameters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0088" y="5120640"/>
            <a:ext cx="621792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Compact architecture for reduced computation and memory.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FB9C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Training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</a:defRPr>
            </a:pPr>
            <a:r>
              <a:t>• The uploaded frame is treated as the clean target.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</a:defRPr>
            </a:pPr>
            <a:r>
              <a:t>• Synthetic degraded samples are generated automatically from the target frame.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</a:defRPr>
            </a:pPr>
            <a:r>
              <a:t>• Degradation includes downsampling, Gaussian blur, random noise, and JPEG compression.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</a:defRPr>
            </a:pPr>
            <a:r>
              <a:t>• The CNN learns a residual correction from the degraded frame toward the clean target.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</a:defRPr>
            </a:pPr>
            <a:r>
              <a:t>• Training loss combines pixel-wise MSE with SSIM-based structural similarity.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FB9C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Evaluation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00200"/>
            <a:ext cx="5074920" cy="192024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64008" cy="1920240"/>
          </a:xfrm>
          <a:prstGeom prst="rect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746504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PSNR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075688"/>
            <a:ext cx="47091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Peak Signal-to-Noise 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651760"/>
            <a:ext cx="47091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Measures pixel-level reconstruction fidelity; higher is better.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074920" cy="192024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600200"/>
            <a:ext cx="64008" cy="1920240"/>
          </a:xfrm>
          <a:prstGeom prst="rect">
            <a:avLst/>
          </a:prstGeom>
          <a:solidFill>
            <a:srgbClr val="4A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746504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SSIM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075688"/>
            <a:ext cx="47091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Structural Similarity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651760"/>
            <a:ext cx="47091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Measures structural similarity; values closer to 1 indicate higher similarity.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86200"/>
            <a:ext cx="5074920" cy="141732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886200"/>
            <a:ext cx="64008" cy="1417320"/>
          </a:xfrm>
          <a:prstGeom prst="rect">
            <a:avLst/>
          </a:prstGeom>
          <a:solidFill>
            <a:srgbClr val="4B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032504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361688"/>
            <a:ext cx="47091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26.24 ms/frame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37760"/>
            <a:ext cx="4709159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Measured inference time in the tested runtime.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886200"/>
            <a:ext cx="5074920" cy="141732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886200"/>
            <a:ext cx="64008" cy="1417320"/>
          </a:xfrm>
          <a:prstGeom prst="rect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4032504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4361688"/>
            <a:ext cx="47091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CNN vs Traditional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4937760"/>
            <a:ext cx="4709159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Both approaches are evaluated using PSNR and SSIM.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FB9C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FB9C8"/>
                </a:solidFill>
              </a:rPr>
              <a:t>Sample evaluation from the final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5760720" cy="548640"/>
          </a:xfrm>
          <a:prstGeom prst="rect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C1018"/>
                </a:solidFill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508760"/>
            <a:ext cx="2194560" cy="548640"/>
          </a:xfrm>
          <a:prstGeom prst="rect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819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C1018"/>
                </a:solidFill>
              </a:rPr>
              <a:t>PSNR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1508760"/>
            <a:ext cx="2194560" cy="548640"/>
          </a:xfrm>
          <a:prstGeom prst="rect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5819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C1018"/>
                </a:solidFill>
              </a:rPr>
              <a:t>SSIM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075688"/>
            <a:ext cx="5760720" cy="749808"/>
          </a:xfrm>
          <a:prstGeom prst="rect">
            <a:avLst/>
          </a:prstGeom>
          <a:solidFill>
            <a:srgbClr val="181F2B"/>
          </a:solidFill>
          <a:ln>
            <a:solidFill>
              <a:srgbClr val="32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6"/>
            <a:ext cx="5760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5F7FA"/>
                </a:solidFill>
              </a:rPr>
              <a:t>Degraded vs Original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075688"/>
            <a:ext cx="2194560" cy="749808"/>
          </a:xfrm>
          <a:prstGeom prst="rect">
            <a:avLst/>
          </a:prstGeom>
          <a:solidFill>
            <a:srgbClr val="181F2B"/>
          </a:solidFill>
          <a:ln>
            <a:solidFill>
              <a:srgbClr val="32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85416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5F7FA"/>
                </a:solidFill>
              </a:rPr>
              <a:t>17.80 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2075688"/>
            <a:ext cx="2194560" cy="749808"/>
          </a:xfrm>
          <a:prstGeom prst="rect">
            <a:avLst/>
          </a:prstGeom>
          <a:solidFill>
            <a:srgbClr val="181F2B"/>
          </a:solidFill>
          <a:ln>
            <a:solidFill>
              <a:srgbClr val="32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2185416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5F7FA"/>
                </a:solidFill>
              </a:rPr>
              <a:t>0.8337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852928"/>
            <a:ext cx="5760720" cy="749808"/>
          </a:xfrm>
          <a:prstGeom prst="rect">
            <a:avLst/>
          </a:prstGeom>
          <a:solidFill>
            <a:srgbClr val="181F2B"/>
          </a:solidFill>
          <a:ln>
            <a:solidFill>
              <a:srgbClr val="32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962656"/>
            <a:ext cx="5760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5F7FA"/>
                </a:solidFill>
              </a:rPr>
              <a:t>Traditional vs Original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852928"/>
            <a:ext cx="2194560" cy="749808"/>
          </a:xfrm>
          <a:prstGeom prst="rect">
            <a:avLst/>
          </a:prstGeom>
          <a:solidFill>
            <a:srgbClr val="181F2B"/>
          </a:solidFill>
          <a:ln>
            <a:solidFill>
              <a:srgbClr val="32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962656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5F7FA"/>
                </a:solidFill>
              </a:rPr>
              <a:t>16.87 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2852928"/>
            <a:ext cx="2194560" cy="749808"/>
          </a:xfrm>
          <a:prstGeom prst="rect">
            <a:avLst/>
          </a:prstGeom>
          <a:solidFill>
            <a:srgbClr val="181F2B"/>
          </a:solidFill>
          <a:ln>
            <a:solidFill>
              <a:srgbClr val="32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962656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5F7FA"/>
                </a:solidFill>
              </a:rPr>
              <a:t>0.8401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30168"/>
            <a:ext cx="5760720" cy="749808"/>
          </a:xfrm>
          <a:prstGeom prst="rect">
            <a:avLst/>
          </a:prstGeom>
          <a:solidFill>
            <a:srgbClr val="181F2B"/>
          </a:solidFill>
          <a:ln>
            <a:solidFill>
              <a:srgbClr val="32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739896"/>
            <a:ext cx="5760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</a:rPr>
              <a:t>CNN Enhanced vs Original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3630168"/>
            <a:ext cx="2194560" cy="749808"/>
          </a:xfrm>
          <a:prstGeom prst="rect">
            <a:avLst/>
          </a:prstGeom>
          <a:solidFill>
            <a:srgbClr val="181F2B"/>
          </a:solidFill>
          <a:ln>
            <a:solidFill>
              <a:srgbClr val="32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739896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</a:rPr>
              <a:t>31.12 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3630168"/>
            <a:ext cx="2194560" cy="749808"/>
          </a:xfrm>
          <a:prstGeom prst="rect">
            <a:avLst/>
          </a:prstGeom>
          <a:solidFill>
            <a:srgbClr val="181F2B"/>
          </a:solidFill>
          <a:ln>
            <a:solidFill>
              <a:srgbClr val="32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3739896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</a:rPr>
              <a:t>0.9871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407408"/>
            <a:ext cx="5760720" cy="749808"/>
          </a:xfrm>
          <a:prstGeom prst="rect">
            <a:avLst/>
          </a:prstGeom>
          <a:solidFill>
            <a:srgbClr val="181F2B"/>
          </a:solidFill>
          <a:ln>
            <a:solidFill>
              <a:srgbClr val="32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17136"/>
            <a:ext cx="5760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5F7FA"/>
                </a:solidFill>
              </a:rPr>
              <a:t>CNN Enhanced vs Traditional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4407408"/>
            <a:ext cx="2194560" cy="749808"/>
          </a:xfrm>
          <a:prstGeom prst="rect">
            <a:avLst/>
          </a:prstGeom>
          <a:solidFill>
            <a:srgbClr val="181F2B"/>
          </a:solidFill>
          <a:ln>
            <a:solidFill>
              <a:srgbClr val="32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517136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5F7FA"/>
                </a:solidFill>
              </a:rPr>
              <a:t>17.11 dB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69680" y="4407408"/>
            <a:ext cx="2194560" cy="749808"/>
          </a:xfrm>
          <a:prstGeom prst="rect">
            <a:avLst/>
          </a:prstGeom>
          <a:solidFill>
            <a:srgbClr val="181F2B"/>
          </a:solidFill>
          <a:ln>
            <a:solidFill>
              <a:srgbClr val="32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4517136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5F7FA"/>
                </a:solidFill>
              </a:rPr>
              <a:t>0.8368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FB9C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Performance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2560320" cy="182880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64008" cy="1828800"/>
          </a:xfrm>
          <a:prstGeom prst="rect">
            <a:avLst/>
          </a:prstGeom>
          <a:solidFill>
            <a:srgbClr val="4A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6362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Model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892808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1,683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68880"/>
            <a:ext cx="2194560" cy="640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parameters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560320" cy="182880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417320"/>
            <a:ext cx="64008" cy="1828800"/>
          </a:xfrm>
          <a:prstGeom prst="rect">
            <a:avLst/>
          </a:prstGeom>
          <a:solidFill>
            <a:srgbClr val="4B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56362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1892808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26.24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468880"/>
            <a:ext cx="2194560" cy="640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per tested frame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2560320" cy="182880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64008" cy="1828800"/>
          </a:xfrm>
          <a:prstGeom prst="rect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56362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PSNR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892808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31.12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468880"/>
            <a:ext cx="2194560" cy="640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CNN vs original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417320"/>
            <a:ext cx="2560320" cy="182880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400" y="1417320"/>
            <a:ext cx="64008" cy="1828800"/>
          </a:xfrm>
          <a:prstGeom prst="rect">
            <a:avLst/>
          </a:prstGeom>
          <a:solidFill>
            <a:srgbClr val="4A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6568" y="156362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SSIM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8" y="1892808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0.9871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2468880"/>
            <a:ext cx="2194560" cy="640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CNN vs original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0240" y="3840480"/>
            <a:ext cx="3840480" cy="150876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20240" y="3840480"/>
            <a:ext cx="64008" cy="1508760"/>
          </a:xfrm>
          <a:prstGeom prst="rect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21408" y="3986784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PSNR IMPROVEMENT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21408" y="4315968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+13.32 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21408" y="48920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Compared with degraded input.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840480"/>
            <a:ext cx="3840480" cy="150876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840480"/>
            <a:ext cx="64008" cy="1508760"/>
          </a:xfrm>
          <a:prstGeom prst="rect">
            <a:avLst/>
          </a:prstGeom>
          <a:solidFill>
            <a:srgbClr val="4B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3986784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SSIM IMPROVEMENT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4315968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+0.1534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48920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Compared with degraded input.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FB9C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Visual Result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• The degraded input contains visible blur, noise, and compression-related quality loss.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• The traditional pipeline provides classical denoising, contrast enhancement, and sharpening as a baseline.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• The CNN reconstructs a frame with substantially higher PSNR and SSIM relative to the original reference.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• The compact model achieves the measured result with only 1,683 parameters and low-latency inference.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• Reported metrics represent a sample evaluation using synthetically degraded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FB9C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Conclusion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5212080" cy="347472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64008" cy="3474720"/>
          </a:xfrm>
          <a:prstGeom prst="rect">
            <a:avLst/>
          </a:prstGeom>
          <a:solidFill>
            <a:srgbClr val="4A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55063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03120"/>
            <a:ext cx="48463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A compact residual CNN was developed for game-frame enhancement. The final implementation combines synthetic degradation, efficient depthwise-separable convolutions, residual learning, and PSNR/SSIM evaluation. The sample result achieved 31.12 dB PSNR and 0.9871 SSIM with 1,683 parameters.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3474720"/>
          </a:xfrm>
          <a:prstGeom prst="roundRect">
            <a:avLst/>
          </a:prstGeom>
          <a:solidFill>
            <a:srgbClr val="181F2B"/>
          </a:solidFill>
          <a:ln>
            <a:solidFill>
              <a:srgbClr val="35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508760"/>
            <a:ext cx="64008" cy="3474720"/>
          </a:xfrm>
          <a:prstGeom prst="rect">
            <a:avLst/>
          </a:prstGeom>
          <a:solidFill>
            <a:srgbClr val="F2B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655063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FB9C8"/>
                </a:solidFill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03120"/>
            <a:ext cx="48463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FB9C8"/>
                </a:solidFill>
              </a:rPr>
              <a:t>• Train on a larger multi-frame game dataset
• Evaluate on independent test frames
• Export to TensorFlow Lite / ONNX
• Benchmark on gaming hardware
• Extend from single-frame enhancement to continuous video-frame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FB9C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Technologies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• Python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• TensorFlow / Keras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• OpenCV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• NumPy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• Matplotlib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• Google Colab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• PSNR and SSIM image-quality metrics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• Depthwise-separable convolution and residual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FB9C8"/>
                </a:solidFill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